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c1b73e2f-9f53-d473-13f5-202691991044}">
          <p14:sldIdLst>
            <p14:sldId id="256"/>
          </p14:sldIdLst>
        </p14:section>
        <p14:section name="Data" id="{8ca25ee2-9f21-85a9-0f83-f8fb92974d14}">
          <p14:sldIdLst>
            <p14:sldId id="257"/>
          </p14:sldIdLst>
        </p14:section>
        <p14:section name="Findings" id="{c51eeaea-0a29-a7ea-644e-d25c03f01cde}">
          <p14:sldIdLst>
            <p14:sldId id="258"/>
          </p14:sldIdLst>
        </p14:section>
        <p14:section name="Model" id="{6e805ac4-bb99-77dc-042f-51c48d427cb5}">
          <p14:sldIdLst>
            <p14:sldId id="259"/>
          </p14:sldIdLst>
        </p14:section>
        <p14:section name="Close" id="{7914c9d7-f3ac-a6b9-28d2-921701bccf92}">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hourly trips for 12 Addis zones over the first fortnight of November. We have ten months of trip history, an hourly weather file, and an events calendar. All three are messy, and the whole game is joining them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hinges on the clock. The weather file looks local but is UTC: the first forecast row is stamped 21:00 on 31 October, which is midnight on 1 November in Addis. Shifting by three hours takes the rain-demand correlation from 0.02 to 0.27. We also fixed a Fahrenheit block, rain sentinels, 125 export spikes and a two-day outage, logging 28 issues in all, and 18 integrity checks pass on the joined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findings changed the model. First, rain lifts demand by up to 63 percent — except in Merkato, the open-air market, where it falls by 42 percent, so rain needs a zone-type interaction. Second, events move demand in waves: football peaks before kick-off for arrivals and again, harder, right after the whistle. That is why event features carry a before, during and after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six families against three baselines on the same chronological splits. Gradient boosting leads; ARIMA does no better than a seasonal naive because it cannot see rain or events. The final model is LightGBM with a Poisson objective on 36 forecast-time features: 8.09 RMSE, 19 percent better than the best baseline, and ahead in every one of the five rolling fortnights. The weather join is worth 0.88 RMSE and the events join 0.35.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misses: nine of the ten largest errors are the eve of a public holiday, which the calendar does not list. We added a holiday-eve feature and the error on those hours dropped. Final score: 8.09 RMSE on the held-out fortnight, 8.68 averaged over five. In plain terms, about four drivers out of a typical twenty-six. The demo runs locally with one command — pick a zone and a date and we will run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2103120"/>
            <a:ext cx="10515600" cy="1371600"/>
          </a:xfrm>
          <a:prstGeom prst="rect">
            <a:avLst/>
          </a:prstGeom>
          <a:noFill/>
          <a:ln/>
        </p:spPr>
        <p:txBody>
          <a:bodyPr wrap="square" rtlCol="0"/>
          <a:lstStyle/>
          <a:p>
            <a:pPr indent="0" marL="0">
              <a:buNone/>
            </a:pPr>
            <a:endParaRPr lang="en-US" sz="4400" dirty="0"/>
          </a:p>
        </p:txBody>
      </p:sp>
      <p:sp>
        <p:nvSpPr>
          <p:cNvPr id="3" name="Text 1"/>
          <p:cNvSpPr/>
          <p:nvPr/>
        </p:nvSpPr>
        <p:spPr>
          <a:xfrm>
            <a:off x="822960" y="3566160"/>
            <a:ext cx="10515600" cy="2011680"/>
          </a:xfrm>
          <a:prstGeom prst="rect">
            <a:avLst/>
          </a:prstGeom>
          <a:noFill/>
          <a:ln/>
        </p:spPr>
        <p:txBody>
          <a:bodyPr wrap="square" rtlCol="0"/>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lstStyle/>
          <a:p>
            <a:pPr indent="0" marL="0">
              <a:buNone/>
            </a:pPr>
            <a:endParaRPr lang="en-US" sz="3200" dirty="0"/>
          </a:p>
        </p:txBody>
      </p:sp>
      <p:sp>
        <p:nvSpPr>
          <p:cNvPr id="3" name="Text 1"/>
          <p:cNvSpPr/>
          <p:nvPr/>
        </p:nvSpPr>
        <p:spPr>
          <a:xfrm>
            <a:off x="457200" y="6400800"/>
            <a:ext cx="7315200" cy="274320"/>
          </a:xfrm>
          <a:prstGeom prst="rect">
            <a:avLst/>
          </a:prstGeom>
          <a:noFill/>
          <a:ln/>
        </p:spPr>
        <p:txBody>
          <a:bodyPr wrap="square" rtlCol="0" anchor="ctr"/>
          <a:lstStyle/>
          <a:p>
            <a:pPr indent="0" marL="0">
              <a:buNone/>
            </a:pPr>
            <a:r>
              <a:rPr lang="en-US" sz="1000" dirty="0">
                <a:solidFill>
                  <a:schemeClr val="accent5"/>
                </a:solidFill>
              </a:rPr>
              <a:t>teamdev · Qiyas AI Hackathon · Addis ride demand</a:t>
            </a:r>
            <a:endParaRPr lang="en-US" sz="1000" dirty="0"/>
          </a:p>
        </p:txBody>
      </p:sp>
      <p:sp>
        <p:nvSpPr>
          <p:cNvPr id="4" name="Text 2"/>
          <p:cNvSpPr/>
          <p:nvPr/>
        </p:nvSpPr>
        <p:spPr>
          <a:xfrm>
            <a:off x="11430000" y="6400800"/>
            <a:ext cx="365760" cy="274320"/>
          </a:xfrm>
          <a:prstGeom prst="rect">
            <a:avLst/>
          </a:prstGeom>
          <a:noFill/>
          <a:ln/>
        </p:spPr>
        <p:txBody>
          <a:bodyPr wrap="square" rtlCol="0" anchor="ctr"/>
          <a:lstStyle/>
          <a:p>
            <a:pPr algn="r" indent="0" marL="0">
              <a:buNone/>
            </a:pPr>
            <a:endParaRPr lang="en-US" sz="1000" dirty="0"/>
          </a:p>
        </p:txBody>
      </p:sp>
      <p:sp>
        <p:nvSpPr>
          <p:cNvPr id="25" name="Slide Number Placeholder 0"/>
          <p:cNvSpPr>
            <a:spLocks noGrp="1"/>
          </p:cNvSpPr>
          <p:nvPr>
            <p:ph type="sldNum" sz="quarter" idx="4294967295"/>
          </p:nvPr>
        </p:nvSpPr>
        <p:spPr>
          <a:xfrm>
            <a:off x="1143000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2011680"/>
            <a:ext cx="10515600" cy="12801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Forecasting ride demand in Addis Ababa</a:t>
            </a:r>
            <a:endParaRPr lang="en-US" sz="4400" dirty="0"/>
          </a:p>
        </p:txBody>
      </p:sp>
      <p:sp>
        <p:nvSpPr>
          <p:cNvPr id="3" name="Text 1"/>
          <p:cNvSpPr/>
          <p:nvPr>
            <p:ph hasCustomPrompt="1"/>
          </p:nvPr>
        </p:nvSpPr>
        <p:spPr>
          <a:xfrm>
            <a:off x="822960" y="3566160"/>
            <a:ext cx="10515600" cy="2011680"/>
          </a:xfrm>
          <a:prstGeom prst="rect">
            <a:avLst/>
          </a:prstGeom>
          <a:noFill/>
          <a:ln/>
        </p:spPr>
        <p:txBody>
          <a:bodyPr wrap="square" rtlCol="0"/>
          <a:lstStyle/>
          <a:p>
            <a:pPr indent="0" marL="0">
              <a:buNone/>
            </a:pPr>
            <a:r>
              <a:rPr lang="en-US" sz="1800" dirty="0">
                <a:solidFill>
                  <a:srgbClr val="FFFFFF"/>
                </a:solidFill>
              </a:rPr>
              <a:t>Team teamdev  ·  Qiyas AI Hackathon</a:t>
            </a:r>
            <a:endParaRPr lang="en-US" sz="1800" dirty="0"/>
          </a:p>
          <a:p>
            <a:pPr indent="0" marL="0">
              <a:buNone/>
            </a:pPr>
            <a:r>
              <a:rPr lang="en-US" sz="1500" dirty="0">
                <a:solidFill>
                  <a:srgbClr val="CBD5E1"/>
                </a:solidFill>
              </a:rPr>
              <a:t>Hourly trips for 12 zones, 1–14 November 2025</a:t>
            </a:r>
            <a:endParaRPr lang="en-US" sz="1800" dirty="0"/>
          </a:p>
        </p:txBody>
      </p:sp>
      <p:sp>
        <p:nvSpPr>
          <p:cNvPr id="4" name="rule"/>
          <p:cNvSpPr/>
          <p:nvPr/>
        </p:nvSpPr>
        <p:spPr>
          <a:xfrm>
            <a:off x="822960" y="4937760"/>
            <a:ext cx="10515600" cy="18288"/>
          </a:xfrm>
          <a:prstGeom prst="rect">
            <a:avLst/>
          </a:prstGeom>
          <a:solidFill>
            <a:srgbClr val="2A78D6"/>
          </a:solidFill>
          <a:ln w="12700">
            <a:solidFill>
              <a:srgbClr val="2A78D6"/>
            </a:solidFill>
            <a:prstDash val="solid"/>
          </a:ln>
        </p:spPr>
      </p:sp>
      <p:sp>
        <p:nvSpPr>
          <p:cNvPr id="5" name="Text 3"/>
          <p:cNvSpPr txBox="1"/>
          <p:nvPr/>
        </p:nvSpPr>
        <p:spPr>
          <a:xfrm>
            <a:off x="822960" y="5212080"/>
            <a:ext cx="10515600" cy="914400"/>
          </a:xfrm>
          <a:prstGeom prst="rect">
            <a:avLst/>
          </a:prstGeom>
          <a:noFill/>
          <a:ln/>
        </p:spPr>
        <p:txBody>
          <a:bodyPr wrap="square" lIns="0" tIns="0" rIns="0" bIns="0" rtlCol="0" anchor="ctr"/>
          <a:lstStyle/>
          <a:p>
            <a:pPr indent="0" marL="0">
              <a:buNone/>
            </a:pPr>
            <a:r>
              <a:rPr lang="en-US" sz="1400" dirty="0">
                <a:solidFill>
                  <a:srgbClr val="CBD5E1"/>
                </a:solidFill>
              </a:rPr>
              <a:t>Three tables feed one model:  </a:t>
            </a:r>
            <a:pPr indent="0" marL="0">
              <a:buNone/>
            </a:pPr>
            <a:r>
              <a:rPr lang="en-US" sz="1400" b="1" dirty="0">
                <a:solidFill>
                  <a:srgbClr val="FFFFFF"/>
                </a:solidFill>
              </a:rPr>
              <a:t>trip history </a:t>
            </a:r>
            <a:pPr indent="0" marL="0">
              <a:buNone/>
            </a:pPr>
            <a:r>
              <a:rPr lang="en-US" sz="1400" dirty="0">
                <a:solidFill>
                  <a:srgbClr val="CBD5E1"/>
                </a:solidFill>
              </a:rPr>
              <a:t>(10 months, 12 zones, hourly) + </a:t>
            </a:r>
            <a:pPr indent="0" marL="0">
              <a:buNone/>
            </a:pPr>
            <a:r>
              <a:rPr lang="en-US" sz="1400" b="1" dirty="0">
                <a:solidFill>
                  <a:srgbClr val="FFFFFF"/>
                </a:solidFill>
              </a:rPr>
              <a:t>hourly weather </a:t>
            </a:r>
            <a:pPr indent="0" marL="0">
              <a:buNone/>
            </a:pPr>
            <a:r>
              <a:rPr lang="en-US" sz="1400" dirty="0">
                <a:solidFill>
                  <a:srgbClr val="CBD5E1"/>
                </a:solidFill>
              </a:rPr>
              <a:t>(observed, then forecast) + </a:t>
            </a:r>
            <a:pPr indent="0" marL="0">
              <a:buNone/>
            </a:pPr>
            <a:r>
              <a:rPr lang="en-US" sz="1400" b="1" dirty="0">
                <a:solidFill>
                  <a:srgbClr val="FFFFFF"/>
                </a:solidFill>
              </a:rPr>
              <a:t>an events calendar </a:t>
            </a:r>
            <a:pPr indent="0" marL="0">
              <a:buNone/>
            </a:pPr>
            <a:r>
              <a:rPr lang="en-US" sz="1400" dirty="0">
                <a:solidFill>
                  <a:srgbClr val="CBD5E1"/>
                </a:solidFill>
              </a:rPr>
              <a:t>(football, concerts, holidays, road closures).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hasCustomPrompt="1"/>
          </p:nvPr>
        </p:nvSpPr>
        <p:spPr>
          <a:xfrm>
            <a:off x="457200" y="320040"/>
            <a:ext cx="11247120" cy="731520"/>
          </a:xfrm>
          <a:prstGeom prst="rect">
            <a:avLst/>
          </a:prstGeom>
          <a:noFill/>
          <a:ln/>
        </p:spPr>
        <p:txBody>
          <a:bodyPr wrap="square" rtlCol="0"/>
          <a:lstStyle/>
          <a:p>
            <a:pPr indent="0" marL="0">
              <a:buNone/>
            </a:pPr>
            <a:r>
              <a:rPr lang="en-US" dirty="0"/>
              <a:t>Cleaning and integration: the clock was the hard part</a:t>
            </a:r>
            <a:endParaRPr lang="en-US" dirty="0"/>
          </a:p>
        </p:txBody>
      </p:sp>
      <p:sp>
        <p:nvSpPr>
          <p:cNvPr id="3" name="card-0.5-1.3"/>
          <p:cNvSpPr/>
          <p:nvPr/>
        </p:nvSpPr>
        <p:spPr>
          <a:xfrm>
            <a:off x="457200" y="1188720"/>
            <a:ext cx="5486400" cy="1828800"/>
          </a:xfrm>
          <a:prstGeom prst="roundRect">
            <a:avLst>
              <a:gd name="adj" fmla="val 4000"/>
            </a:avLst>
          </a:prstGeom>
          <a:solidFill>
            <a:schemeClr val="bg2"/>
          </a:solidFill>
          <a:ln w="12700">
            <a:solidFill>
              <a:schemeClr val="bg2"/>
            </a:solidFill>
            <a:prstDash val="solid"/>
          </a:ln>
        </p:spPr>
      </p:sp>
      <p:sp>
        <p:nvSpPr>
          <p:cNvPr id="4" name="Text 2"/>
          <p:cNvSpPr txBox="1"/>
          <p:nvPr/>
        </p:nvSpPr>
        <p:spPr>
          <a:xfrm>
            <a:off x="685800" y="1325880"/>
            <a:ext cx="5029200" cy="365760"/>
          </a:xfrm>
          <a:prstGeom prst="rect">
            <a:avLst/>
          </a:prstGeom>
          <a:noFill/>
          <a:ln/>
        </p:spPr>
        <p:txBody>
          <a:bodyPr wrap="square" lIns="0" tIns="0" rIns="0" bIns="0" rtlCol="0" anchor="ctr"/>
          <a:lstStyle/>
          <a:p>
            <a:pPr indent="0" marL="0">
              <a:buNone/>
            </a:pPr>
            <a:r>
              <a:rPr lang="en-US" sz="1500" b="1" dirty="0">
                <a:solidFill>
                  <a:schemeClr val="tx1"/>
                </a:solidFill>
              </a:rPr>
              <a:t>The weather file is on UTC, the trips are on Addis time</a:t>
            </a:r>
            <a:endParaRPr lang="en-US" sz="1500" dirty="0"/>
          </a:p>
        </p:txBody>
      </p:sp>
      <p:sp>
        <p:nvSpPr>
          <p:cNvPr id="5" name="Text 3"/>
          <p:cNvSpPr txBox="1"/>
          <p:nvPr/>
        </p:nvSpPr>
        <p:spPr>
          <a:xfrm>
            <a:off x="685800" y="1737360"/>
            <a:ext cx="5029200" cy="1188720"/>
          </a:xfrm>
          <a:prstGeom prst="rect">
            <a:avLst/>
          </a:prstGeom>
          <a:noFill/>
          <a:ln/>
        </p:spPr>
        <p:txBody>
          <a:bodyPr wrap="square" rtlCol="0" anchor="ctr"/>
          <a:lstStyle/>
          <a:p>
            <a:pPr marL="342900" indent="-342900">
              <a:lnSpc>
                <a:spcPts val="2000"/>
              </a:lnSpc>
              <a:spcAft>
                <a:spcPts val="800"/>
              </a:spcAft>
              <a:buSzPct val="100000"/>
              <a:buChar char="•"/>
            </a:pPr>
            <a:r>
              <a:rPr lang="en-US" sz="1300" dirty="0">
                <a:solidFill>
                  <a:schemeClr val="tx1"/>
                </a:solidFill>
              </a:rPr>
              <a:t>Forecast rows start 31 Oct 21:00 — that is 1 Nov 00:00 in Addis</a:t>
            </a:r>
            <a:endParaRPr lang="en-US" sz="1300" dirty="0"/>
          </a:p>
          <a:p>
            <a:pPr marL="342900" indent="-342900">
              <a:lnSpc>
                <a:spcPts val="2000"/>
              </a:lnSpc>
              <a:spcAft>
                <a:spcPts val="800"/>
              </a:spcAft>
              <a:buSzPct val="100000"/>
              <a:buChar char="•"/>
            </a:pPr>
            <a:r>
              <a:rPr lang="en-US" sz="1300" dirty="0">
                <a:solidFill>
                  <a:schemeClr val="tx1"/>
                </a:solidFill>
              </a:rPr>
              <a:t>Temperature peaks at 12:00 raw, which is 15:00 Addis time</a:t>
            </a:r>
            <a:endParaRPr lang="en-US" sz="1300" dirty="0"/>
          </a:p>
          <a:p>
            <a:pPr marL="342900" indent="-342900">
              <a:lnSpc>
                <a:spcPts val="2000"/>
              </a:lnSpc>
              <a:spcAft>
                <a:spcPts val="800"/>
              </a:spcAft>
              <a:buSzPct val="100000"/>
              <a:buChar char="•"/>
            </a:pPr>
            <a:r>
              <a:rPr lang="en-US" sz="1300" dirty="0">
                <a:solidFill>
                  <a:schemeClr val="tx1"/>
                </a:solidFill>
              </a:rPr>
              <a:t>Rain-to-demand correlation: 0.27 at +3 h, 0.02 unshifted</a:t>
            </a:r>
            <a:endParaRPr lang="en-US" sz="1300" dirty="0"/>
          </a:p>
        </p:txBody>
      </p:sp>
      <p:sp>
        <p:nvSpPr>
          <p:cNvPr id="6" name="card-6.8-1.3"/>
          <p:cNvSpPr/>
          <p:nvPr/>
        </p:nvSpPr>
        <p:spPr>
          <a:xfrm>
            <a:off x="6217920" y="1188720"/>
            <a:ext cx="5486400" cy="1828800"/>
          </a:xfrm>
          <a:prstGeom prst="roundRect">
            <a:avLst>
              <a:gd name="adj" fmla="val 4000"/>
            </a:avLst>
          </a:prstGeom>
          <a:solidFill>
            <a:schemeClr val="bg2"/>
          </a:solidFill>
          <a:ln w="12700">
            <a:solidFill>
              <a:schemeClr val="bg2"/>
            </a:solidFill>
            <a:prstDash val="solid"/>
          </a:ln>
        </p:spPr>
      </p:sp>
      <p:sp>
        <p:nvSpPr>
          <p:cNvPr id="7" name="Text 5"/>
          <p:cNvSpPr txBox="1"/>
          <p:nvPr/>
        </p:nvSpPr>
        <p:spPr>
          <a:xfrm>
            <a:off x="6446520" y="1325880"/>
            <a:ext cx="5029200" cy="365760"/>
          </a:xfrm>
          <a:prstGeom prst="rect">
            <a:avLst/>
          </a:prstGeom>
          <a:noFill/>
          <a:ln/>
        </p:spPr>
        <p:txBody>
          <a:bodyPr wrap="square" lIns="0" tIns="0" rIns="0" bIns="0" rtlCol="0" anchor="ctr"/>
          <a:lstStyle/>
          <a:p>
            <a:pPr indent="0" marL="0">
              <a:buNone/>
            </a:pPr>
            <a:r>
              <a:rPr lang="en-US" sz="1500" b="1" dirty="0">
                <a:solidFill>
                  <a:schemeClr val="tx1"/>
                </a:solidFill>
              </a:rPr>
              <a:t>Fixed before joining</a:t>
            </a:r>
            <a:endParaRPr lang="en-US" sz="1500" dirty="0"/>
          </a:p>
        </p:txBody>
      </p:sp>
      <p:sp>
        <p:nvSpPr>
          <p:cNvPr id="8" name="Text 6"/>
          <p:cNvSpPr txBox="1"/>
          <p:nvPr/>
        </p:nvSpPr>
        <p:spPr>
          <a:xfrm>
            <a:off x="6446520" y="1737360"/>
            <a:ext cx="5029200" cy="1188720"/>
          </a:xfrm>
          <a:prstGeom prst="rect">
            <a:avLst/>
          </a:prstGeom>
          <a:noFill/>
          <a:ln/>
        </p:spPr>
        <p:txBody>
          <a:bodyPr wrap="square" rtlCol="0" anchor="ctr"/>
          <a:lstStyle/>
          <a:p>
            <a:pPr marL="342900" indent="-342900">
              <a:lnSpc>
                <a:spcPts val="2000"/>
              </a:lnSpc>
              <a:spcAft>
                <a:spcPts val="800"/>
              </a:spcAft>
              <a:buSzPct val="100000"/>
              <a:buChar char="•"/>
            </a:pPr>
            <a:r>
              <a:rPr lang="en-US" sz="1300" dirty="0">
                <a:solidFill>
                  <a:schemeClr val="tx1"/>
                </a:solidFill>
              </a:rPr>
              <a:t>28 logged issues across the three files</a:t>
            </a:r>
            <a:endParaRPr lang="en-US" sz="1300" dirty="0"/>
          </a:p>
          <a:p>
            <a:pPr marL="342900" indent="-342900">
              <a:lnSpc>
                <a:spcPts val="2000"/>
              </a:lnSpc>
              <a:spcAft>
                <a:spcPts val="800"/>
              </a:spcAft>
              <a:buSzPct val="100000"/>
              <a:buChar char="•"/>
            </a:pPr>
            <a:r>
              <a:rPr lang="en-US" sz="1300" dirty="0">
                <a:solidFill>
                  <a:schemeClr val="tx1"/>
                </a:solidFill>
              </a:rPr>
              <a:t>A Fahrenheit block (10–24 Jul) and −9999 rain sentinels</a:t>
            </a:r>
            <a:endParaRPr lang="en-US" sz="1300" dirty="0"/>
          </a:p>
          <a:p>
            <a:pPr marL="342900" indent="-342900">
              <a:lnSpc>
                <a:spcPts val="2000"/>
              </a:lnSpc>
              <a:spcAft>
                <a:spcPts val="800"/>
              </a:spcAft>
              <a:buSzPct val="100000"/>
              <a:buChar char="•"/>
            </a:pPr>
            <a:r>
              <a:rPr lang="en-US" sz="1300" dirty="0">
                <a:solidFill>
                  <a:schemeClr val="tx1"/>
                </a:solidFill>
              </a:rPr>
              <a:t>125 export spikes where trips were multiplied by 8</a:t>
            </a:r>
            <a:endParaRPr lang="en-US" sz="1300" dirty="0"/>
          </a:p>
          <a:p>
            <a:pPr marL="342900" indent="-342900">
              <a:lnSpc>
                <a:spcPts val="2000"/>
              </a:lnSpc>
              <a:spcAft>
                <a:spcPts val="800"/>
              </a:spcAft>
              <a:buSzPct val="100000"/>
              <a:buChar char="•"/>
            </a:pPr>
            <a:r>
              <a:rPr lang="en-US" sz="1300" dirty="0">
                <a:solidFill>
                  <a:schemeClr val="tx1"/>
                </a:solidFill>
              </a:rPr>
              <a:t>A 42-hour outage (12–13 May) excluded, not imputed</a:t>
            </a:r>
            <a:endParaRPr lang="en-US" sz="1300" dirty="0"/>
          </a:p>
        </p:txBody>
      </p:sp>
      <p:sp>
        <p:nvSpPr>
          <p:cNvPr id="9" name="Text 7"/>
          <p:cNvSpPr txBox="1"/>
          <p:nvPr/>
        </p:nvSpPr>
        <p:spPr>
          <a:xfrm>
            <a:off x="457200" y="3383280"/>
            <a:ext cx="2743200" cy="685800"/>
          </a:xfrm>
          <a:prstGeom prst="rect">
            <a:avLst/>
          </a:prstGeom>
          <a:noFill/>
          <a:ln/>
        </p:spPr>
        <p:txBody>
          <a:bodyPr wrap="square" lIns="0" tIns="0" rIns="0" bIns="0" rtlCol="0" anchor="ctr"/>
          <a:lstStyle/>
          <a:p>
            <a:pPr indent="0" marL="0">
              <a:buNone/>
            </a:pPr>
            <a:r>
              <a:rPr lang="en-US" sz="4000" b="1" dirty="0">
                <a:solidFill>
                  <a:schemeClr val="accent1"/>
                </a:solidFill>
              </a:rPr>
              <a:t>87,552</a:t>
            </a:r>
            <a:endParaRPr lang="en-US" sz="4000" dirty="0"/>
          </a:p>
        </p:txBody>
      </p:sp>
      <p:sp>
        <p:nvSpPr>
          <p:cNvPr id="10" name="Text 8"/>
          <p:cNvSpPr txBox="1"/>
          <p:nvPr/>
        </p:nvSpPr>
        <p:spPr>
          <a:xfrm>
            <a:off x="457200" y="4041648"/>
            <a:ext cx="2743200" cy="548640"/>
          </a:xfrm>
          <a:prstGeom prst="rect">
            <a:avLst/>
          </a:prstGeom>
          <a:noFill/>
          <a:ln/>
        </p:spPr>
        <p:txBody>
          <a:bodyPr wrap="square" lIns="0" tIns="0" rIns="0" bIns="0" rtlCol="0" anchor="ctr"/>
          <a:lstStyle/>
          <a:p>
            <a:pPr indent="0" marL="0">
              <a:buNone/>
            </a:pPr>
            <a:r>
              <a:rPr lang="en-US" sz="1200" dirty="0">
                <a:solidFill>
                  <a:schemeClr val="tx1"/>
                </a:solidFill>
              </a:rPr>
              <a:t>zone-hours in the</a:t>
            </a:r>
            <a:endParaRPr lang="en-US" sz="1200" dirty="0"/>
          </a:p>
          <a:p>
            <a:pPr indent="0" marL="0">
              <a:buNone/>
            </a:pPr>
            <a:r>
              <a:rPr lang="en-US" sz="1200" dirty="0">
                <a:solidFill>
                  <a:schemeClr val="tx1"/>
                </a:solidFill>
              </a:rPr>
              <a:t>train grid</a:t>
            </a:r>
            <a:endParaRPr lang="en-US" sz="1200" dirty="0"/>
          </a:p>
        </p:txBody>
      </p:sp>
      <p:sp>
        <p:nvSpPr>
          <p:cNvPr id="11" name="Text 9"/>
          <p:cNvSpPr txBox="1"/>
          <p:nvPr/>
        </p:nvSpPr>
        <p:spPr>
          <a:xfrm>
            <a:off x="3383280" y="3383280"/>
            <a:ext cx="2743200" cy="685800"/>
          </a:xfrm>
          <a:prstGeom prst="rect">
            <a:avLst/>
          </a:prstGeom>
          <a:noFill/>
          <a:ln/>
        </p:spPr>
        <p:txBody>
          <a:bodyPr wrap="square" lIns="0" tIns="0" rIns="0" bIns="0" rtlCol="0" anchor="ctr"/>
          <a:lstStyle/>
          <a:p>
            <a:pPr indent="0" marL="0">
              <a:buNone/>
            </a:pPr>
            <a:r>
              <a:rPr lang="en-US" sz="4000" b="1" dirty="0">
                <a:solidFill>
                  <a:schemeClr val="accent2"/>
                </a:solidFill>
              </a:rPr>
              <a:t>100%</a:t>
            </a:r>
            <a:endParaRPr lang="en-US" sz="4000" dirty="0"/>
          </a:p>
        </p:txBody>
      </p:sp>
      <p:sp>
        <p:nvSpPr>
          <p:cNvPr id="12" name="Text 10"/>
          <p:cNvSpPr txBox="1"/>
          <p:nvPr/>
        </p:nvSpPr>
        <p:spPr>
          <a:xfrm>
            <a:off x="3383280" y="4041648"/>
            <a:ext cx="2743200" cy="548640"/>
          </a:xfrm>
          <a:prstGeom prst="rect">
            <a:avLst/>
          </a:prstGeom>
          <a:noFill/>
          <a:ln/>
        </p:spPr>
        <p:txBody>
          <a:bodyPr wrap="square" lIns="0" tIns="0" rIns="0" bIns="0" rtlCol="0" anchor="ctr"/>
          <a:lstStyle/>
          <a:p>
            <a:pPr indent="0" marL="0">
              <a:buNone/>
            </a:pPr>
            <a:r>
              <a:rPr lang="en-US" sz="1200" dirty="0">
                <a:solidFill>
                  <a:schemeClr val="tx1"/>
                </a:solidFill>
              </a:rPr>
              <a:t>weather match rate</a:t>
            </a:r>
            <a:endParaRPr lang="en-US" sz="1200" dirty="0"/>
          </a:p>
          <a:p>
            <a:pPr indent="0" marL="0">
              <a:buNone/>
            </a:pPr>
            <a:r>
              <a:rPr lang="en-US" sz="1200" dirty="0">
                <a:solidFill>
                  <a:schemeClr val="tx1"/>
                </a:solidFill>
              </a:rPr>
              <a:t>after de-duplicating</a:t>
            </a:r>
            <a:endParaRPr lang="en-US" sz="1200" dirty="0"/>
          </a:p>
        </p:txBody>
      </p:sp>
      <p:sp>
        <p:nvSpPr>
          <p:cNvPr id="13" name="Text 11"/>
          <p:cNvSpPr txBox="1"/>
          <p:nvPr/>
        </p:nvSpPr>
        <p:spPr>
          <a:xfrm>
            <a:off x="6309360" y="3383280"/>
            <a:ext cx="2743200" cy="685800"/>
          </a:xfrm>
          <a:prstGeom prst="rect">
            <a:avLst/>
          </a:prstGeom>
          <a:noFill/>
          <a:ln/>
        </p:spPr>
        <p:txBody>
          <a:bodyPr wrap="square" lIns="0" tIns="0" rIns="0" bIns="0" rtlCol="0" anchor="ctr"/>
          <a:lstStyle/>
          <a:p>
            <a:pPr indent="0" marL="0">
              <a:buNone/>
            </a:pPr>
            <a:r>
              <a:rPr lang="en-US" sz="4000" b="1" dirty="0">
                <a:solidFill>
                  <a:schemeClr val="accent1"/>
                </a:solidFill>
              </a:rPr>
              <a:t>152 / 159</a:t>
            </a:r>
            <a:endParaRPr lang="en-US" sz="4000" dirty="0"/>
          </a:p>
        </p:txBody>
      </p:sp>
      <p:sp>
        <p:nvSpPr>
          <p:cNvPr id="14" name="Text 12"/>
          <p:cNvSpPr txBox="1"/>
          <p:nvPr/>
        </p:nvSpPr>
        <p:spPr>
          <a:xfrm>
            <a:off x="6309360" y="4041648"/>
            <a:ext cx="2743200" cy="548640"/>
          </a:xfrm>
          <a:prstGeom prst="rect">
            <a:avLst/>
          </a:prstGeom>
          <a:noFill/>
          <a:ln/>
        </p:spPr>
        <p:txBody>
          <a:bodyPr wrap="square" lIns="0" tIns="0" rIns="0" bIns="0" rtlCol="0" anchor="ctr"/>
          <a:lstStyle/>
          <a:p>
            <a:pPr indent="0" marL="0">
              <a:buNone/>
            </a:pPr>
            <a:r>
              <a:rPr lang="en-US" sz="1200" dirty="0">
                <a:solidFill>
                  <a:schemeClr val="tx1"/>
                </a:solidFill>
              </a:rPr>
              <a:t>events matched to</a:t>
            </a:r>
            <a:endParaRPr lang="en-US" sz="1200" dirty="0"/>
          </a:p>
          <a:p>
            <a:pPr indent="0" marL="0">
              <a:buNone/>
            </a:pPr>
            <a:r>
              <a:rPr lang="en-US" sz="1200" dirty="0">
                <a:solidFill>
                  <a:schemeClr val="tx1"/>
                </a:solidFill>
              </a:rPr>
              <a:t>a zone-hour</a:t>
            </a:r>
            <a:endParaRPr lang="en-US" sz="1200" dirty="0"/>
          </a:p>
        </p:txBody>
      </p:sp>
      <p:sp>
        <p:nvSpPr>
          <p:cNvPr id="15" name="Text 13"/>
          <p:cNvSpPr txBox="1"/>
          <p:nvPr/>
        </p:nvSpPr>
        <p:spPr>
          <a:xfrm>
            <a:off x="9235440" y="3383280"/>
            <a:ext cx="2743200" cy="685800"/>
          </a:xfrm>
          <a:prstGeom prst="rect">
            <a:avLst/>
          </a:prstGeom>
          <a:noFill/>
          <a:ln/>
        </p:spPr>
        <p:txBody>
          <a:bodyPr wrap="square" lIns="0" tIns="0" rIns="0" bIns="0" rtlCol="0" anchor="ctr"/>
          <a:lstStyle/>
          <a:p>
            <a:pPr indent="0" marL="0">
              <a:buNone/>
            </a:pPr>
            <a:r>
              <a:rPr lang="en-US" sz="4000" b="1" dirty="0">
                <a:solidFill>
                  <a:schemeClr val="accent2"/>
                </a:solidFill>
              </a:rPr>
              <a:t>18 / 18</a:t>
            </a:r>
            <a:endParaRPr lang="en-US" sz="4000" dirty="0"/>
          </a:p>
        </p:txBody>
      </p:sp>
      <p:sp>
        <p:nvSpPr>
          <p:cNvPr id="16" name="Text 14"/>
          <p:cNvSpPr txBox="1"/>
          <p:nvPr/>
        </p:nvSpPr>
        <p:spPr>
          <a:xfrm>
            <a:off x="9235440" y="4041648"/>
            <a:ext cx="2743200" cy="548640"/>
          </a:xfrm>
          <a:prstGeom prst="rect">
            <a:avLst/>
          </a:prstGeom>
          <a:noFill/>
          <a:ln/>
        </p:spPr>
        <p:txBody>
          <a:bodyPr wrap="square" lIns="0" tIns="0" rIns="0" bIns="0" rtlCol="0" anchor="ctr"/>
          <a:lstStyle/>
          <a:p>
            <a:pPr indent="0" marL="0">
              <a:buNone/>
            </a:pPr>
            <a:r>
              <a:rPr lang="en-US" sz="1200" dirty="0">
                <a:solidFill>
                  <a:schemeClr val="tx1"/>
                </a:solidFill>
              </a:rPr>
              <a:t>integrity checks</a:t>
            </a:r>
            <a:endParaRPr lang="en-US" sz="1200" dirty="0"/>
          </a:p>
          <a:p>
            <a:pPr indent="0" marL="0">
              <a:buNone/>
            </a:pPr>
            <a:r>
              <a:rPr lang="en-US" sz="1200" dirty="0">
                <a:solidFill>
                  <a:schemeClr val="tx1"/>
                </a:solidFill>
              </a:rPr>
              <a:t>passing</a:t>
            </a:r>
            <a:endParaRPr lang="en-US" sz="1200" dirty="0"/>
          </a:p>
        </p:txBody>
      </p:sp>
      <p:pic>
        <p:nvPicPr>
          <p:cNvPr id="17" name="Image 0" descr="/home/claude/hackathon/figures/fig06_weather_timezone_check.png">    </p:cNvPr>
          <p:cNvPicPr>
            <a:picLocks noChangeAspect="1"/>
          </p:cNvPicPr>
          <p:nvPr/>
        </p:nvPicPr>
        <p:blipFill>
          <a:blip r:embed="rId1"/>
          <a:srcRect l="0" r="0" t="0" b="0"/>
          <a:stretch/>
        </p:blipFill>
        <p:spPr>
          <a:xfrm>
            <a:off x="457200" y="4754880"/>
            <a:ext cx="11247120" cy="1554480"/>
          </a:xfrm>
          <a:prstGeom prst="rect">
            <a:avLst/>
          </a:prstGeom>
        </p:spPr>
      </p:pic>
      <p:sp>
        <p:nvSpPr>
          <p:cNvPr id="25" name="Slide Number Placeholder 0"/>
          <p:cNvSpPr>
            <a:spLocks noGrp="1"/>
          </p:cNvSpPr>
          <p:nvPr>
            <p:ph type="sldNum" sz="quarter" idx="4294967295"/>
          </p:nvPr>
        </p:nvSpPr>
        <p:spPr>
          <a:xfrm>
            <a:off x="1143000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hasCustomPrompt="1"/>
          </p:nvPr>
        </p:nvSpPr>
        <p:spPr>
          <a:xfrm>
            <a:off x="457200" y="320040"/>
            <a:ext cx="11247120" cy="731520"/>
          </a:xfrm>
          <a:prstGeom prst="rect">
            <a:avLst/>
          </a:prstGeom>
          <a:noFill/>
          <a:ln/>
        </p:spPr>
        <p:txBody>
          <a:bodyPr wrap="square" rtlCol="0"/>
          <a:lstStyle/>
          <a:p>
            <a:pPr indent="0" marL="0">
              <a:buNone/>
            </a:pPr>
            <a:r>
              <a:rPr lang="en-US" dirty="0"/>
              <a:t>What the data says: rain lifts demand, events move it in waves</a:t>
            </a:r>
            <a:endParaRPr lang="en-US" dirty="0"/>
          </a:p>
        </p:txBody>
      </p:sp>
      <p:pic>
        <p:nvPicPr>
          <p:cNvPr id="3" name="Image 0" descr="/home/claude/hackathon/figures/fig07_rain_effect.png">    </p:cNvPr>
          <p:cNvPicPr>
            <a:picLocks noChangeAspect="1"/>
          </p:cNvPicPr>
          <p:nvPr/>
        </p:nvPicPr>
        <p:blipFill>
          <a:blip r:embed="rId1"/>
          <a:srcRect l="0" r="0" t="0" b="0"/>
          <a:stretch/>
        </p:blipFill>
        <p:spPr>
          <a:xfrm>
            <a:off x="457200" y="1143000"/>
            <a:ext cx="5577840" cy="3566160"/>
          </a:xfrm>
          <a:prstGeom prst="rect">
            <a:avLst/>
          </a:prstGeom>
        </p:spPr>
      </p:pic>
      <p:pic>
        <p:nvPicPr>
          <p:cNvPr id="4" name="Image 1" descr="/home/claude/hackathon/figures/fig08_event_study.png">    </p:cNvPr>
          <p:cNvPicPr>
            <a:picLocks noChangeAspect="1"/>
          </p:cNvPicPr>
          <p:nvPr/>
        </p:nvPicPr>
        <p:blipFill>
          <a:blip r:embed="rId2"/>
          <a:srcRect l="0" r="0" t="0" b="0"/>
          <a:stretch/>
        </p:blipFill>
        <p:spPr>
          <a:xfrm>
            <a:off x="6217920" y="1143000"/>
            <a:ext cx="5486400" cy="3566160"/>
          </a:xfrm>
          <a:prstGeom prst="rect">
            <a:avLst/>
          </a:prstGeom>
        </p:spPr>
      </p:pic>
      <p:sp>
        <p:nvSpPr>
          <p:cNvPr id="5" name="card-0.5-5.3"/>
          <p:cNvSpPr/>
          <p:nvPr/>
        </p:nvSpPr>
        <p:spPr>
          <a:xfrm>
            <a:off x="457200" y="4846320"/>
            <a:ext cx="5577840" cy="1371600"/>
          </a:xfrm>
          <a:prstGeom prst="roundRect">
            <a:avLst>
              <a:gd name="adj" fmla="val 5333"/>
            </a:avLst>
          </a:prstGeom>
          <a:solidFill>
            <a:schemeClr val="bg2"/>
          </a:solidFill>
          <a:ln w="12700">
            <a:solidFill>
              <a:schemeClr val="bg2"/>
            </a:solidFill>
            <a:prstDash val="solid"/>
          </a:ln>
        </p:spPr>
      </p:sp>
      <p:sp>
        <p:nvSpPr>
          <p:cNvPr id="6" name="Text 2"/>
          <p:cNvSpPr txBox="1"/>
          <p:nvPr/>
        </p:nvSpPr>
        <p:spPr>
          <a:xfrm>
            <a:off x="685800" y="4983480"/>
            <a:ext cx="5120640" cy="1097280"/>
          </a:xfrm>
          <a:prstGeom prst="rect">
            <a:avLst/>
          </a:prstGeom>
          <a:noFill/>
          <a:ln/>
        </p:spPr>
        <p:txBody>
          <a:bodyPr wrap="square" lIns="0" tIns="0" rIns="0" bIns="0" rtlCol="0" anchor="ctr"/>
          <a:lstStyle/>
          <a:p>
            <a:pPr indent="0" marL="0">
              <a:buNone/>
            </a:pPr>
            <a:r>
              <a:rPr lang="en-US" sz="1300" b="1" dirty="0">
                <a:solidFill>
                  <a:schemeClr val="tx1"/>
                </a:solidFill>
              </a:rPr>
              <a:t>Rain lifts demand everywhere except the market.</a:t>
            </a:r>
            <a:endParaRPr lang="en-US" sz="1300" dirty="0"/>
          </a:p>
          <a:p>
            <a:pPr indent="0" marL="0">
              <a:buNone/>
            </a:pPr>
            <a:r>
              <a:rPr lang="en-US" sz="1200" dirty="0">
                <a:solidFill>
                  <a:schemeClr val="tx1"/>
                </a:solidFill>
              </a:rPr>
              <a:t>Heavy rain: 1.63× a matched dry hour outside Merkato, but 0.58× inside it — the open-air market empties instead. Rain only helps the model with a zone-type interaction.</a:t>
            </a:r>
            <a:endParaRPr lang="en-US" sz="1300" dirty="0"/>
          </a:p>
        </p:txBody>
      </p:sp>
      <p:sp>
        <p:nvSpPr>
          <p:cNvPr id="7" name="card-6.8-5.3"/>
          <p:cNvSpPr/>
          <p:nvPr/>
        </p:nvSpPr>
        <p:spPr>
          <a:xfrm>
            <a:off x="6217920" y="4846320"/>
            <a:ext cx="5486400" cy="1371600"/>
          </a:xfrm>
          <a:prstGeom prst="roundRect">
            <a:avLst>
              <a:gd name="adj" fmla="val 5333"/>
            </a:avLst>
          </a:prstGeom>
          <a:solidFill>
            <a:schemeClr val="bg2"/>
          </a:solidFill>
          <a:ln w="12700">
            <a:solidFill>
              <a:schemeClr val="bg2"/>
            </a:solidFill>
            <a:prstDash val="solid"/>
          </a:ln>
        </p:spPr>
      </p:sp>
      <p:sp>
        <p:nvSpPr>
          <p:cNvPr id="8" name="Text 4"/>
          <p:cNvSpPr txBox="1"/>
          <p:nvPr/>
        </p:nvSpPr>
        <p:spPr>
          <a:xfrm>
            <a:off x="6446520" y="4983480"/>
            <a:ext cx="5029200" cy="1097280"/>
          </a:xfrm>
          <a:prstGeom prst="rect">
            <a:avLst/>
          </a:prstGeom>
          <a:noFill/>
          <a:ln/>
        </p:spPr>
        <p:txBody>
          <a:bodyPr wrap="square" lIns="0" tIns="0" rIns="0" bIns="0" rtlCol="0" anchor="ctr"/>
          <a:lstStyle/>
          <a:p>
            <a:pPr indent="0" marL="0">
              <a:buNone/>
            </a:pPr>
            <a:r>
              <a:rPr lang="en-US" sz="1300" b="1" dirty="0">
                <a:solidFill>
                  <a:schemeClr val="tx1"/>
                </a:solidFill>
              </a:rPr>
              <a:t>Events arrive and leave in distinct waves.</a:t>
            </a:r>
            <a:endParaRPr lang="en-US" sz="1300" dirty="0"/>
          </a:p>
          <a:p>
            <a:pPr indent="0" marL="0">
              <a:buNone/>
            </a:pPr>
            <a:r>
              <a:rPr lang="en-US" sz="1200" dirty="0">
                <a:solidFill>
                  <a:schemeClr val="tx1"/>
                </a:solidFill>
              </a:rPr>
              <a:t>Football: 1.8× an hour before kick-off, 2.5× right after the final whistle. Concerts peak about 5 h in, as the crowd leaves. So events are features with before / during / after phases, not one flag.</a:t>
            </a:r>
            <a:endParaRPr lang="en-US" sz="1300" dirty="0"/>
          </a:p>
        </p:txBody>
      </p:sp>
      <p:sp>
        <p:nvSpPr>
          <p:cNvPr id="25" name="Slide Number Placeholder 0"/>
          <p:cNvSpPr>
            <a:spLocks noGrp="1"/>
          </p:cNvSpPr>
          <p:nvPr>
            <p:ph type="sldNum" sz="quarter" idx="4294967295"/>
          </p:nvPr>
        </p:nvSpPr>
        <p:spPr>
          <a:xfrm>
            <a:off x="1143000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hasCustomPrompt="1"/>
          </p:nvPr>
        </p:nvSpPr>
        <p:spPr>
          <a:xfrm>
            <a:off x="457200" y="320040"/>
            <a:ext cx="11247120" cy="731520"/>
          </a:xfrm>
          <a:prstGeom prst="rect">
            <a:avLst/>
          </a:prstGeom>
          <a:noFill/>
          <a:ln/>
        </p:spPr>
        <p:txBody>
          <a:bodyPr wrap="square" rtlCol="0"/>
          <a:lstStyle/>
          <a:p>
            <a:pPr indent="0" marL="0">
              <a:buNone/>
            </a:pPr>
            <a:r>
              <a:rPr lang="en-US" dirty="0"/>
              <a:t>Modelling: six families, validated on five rolling fortnights</a:t>
            </a:r>
            <a:endParaRPr lang="en-US" dirty="0"/>
          </a:p>
        </p:txBody>
      </p:sp>
      <p:pic>
        <p:nvPicPr>
          <p:cNvPr id="3" name="Image 0" descr="/home/claude/hackathon/figures/fig10_model_comparison.png">    </p:cNvPr>
          <p:cNvPicPr>
            <a:picLocks noChangeAspect="1"/>
          </p:cNvPicPr>
          <p:nvPr/>
        </p:nvPicPr>
        <p:blipFill>
          <a:blip r:embed="rId1"/>
          <a:srcRect l="0" r="0" t="0" b="0"/>
          <a:stretch/>
        </p:blipFill>
        <p:spPr>
          <a:xfrm>
            <a:off x="365760" y="1051560"/>
            <a:ext cx="7680960" cy="3566160"/>
          </a:xfrm>
          <a:prstGeom prst="rect">
            <a:avLst/>
          </a:prstGeom>
        </p:spPr>
      </p:pic>
      <p:sp>
        <p:nvSpPr>
          <p:cNvPr id="4" name="card-9-1.15"/>
          <p:cNvSpPr/>
          <p:nvPr/>
        </p:nvSpPr>
        <p:spPr>
          <a:xfrm>
            <a:off x="8229600" y="1051560"/>
            <a:ext cx="3474720" cy="3566160"/>
          </a:xfrm>
          <a:prstGeom prst="roundRect">
            <a:avLst>
              <a:gd name="adj" fmla="val 2105"/>
            </a:avLst>
          </a:prstGeom>
          <a:solidFill>
            <a:schemeClr val="bg2"/>
          </a:solidFill>
          <a:ln w="12700">
            <a:solidFill>
              <a:schemeClr val="bg2"/>
            </a:solidFill>
            <a:prstDash val="solid"/>
          </a:ln>
        </p:spPr>
      </p:sp>
      <p:sp>
        <p:nvSpPr>
          <p:cNvPr id="5" name="Text 2"/>
          <p:cNvSpPr txBox="1"/>
          <p:nvPr/>
        </p:nvSpPr>
        <p:spPr>
          <a:xfrm>
            <a:off x="8458200" y="1188720"/>
            <a:ext cx="3017520" cy="320040"/>
          </a:xfrm>
          <a:prstGeom prst="rect">
            <a:avLst/>
          </a:prstGeom>
          <a:noFill/>
          <a:ln/>
        </p:spPr>
        <p:txBody>
          <a:bodyPr wrap="square" lIns="0" tIns="0" rIns="0" bIns="0" rtlCol="0" anchor="ctr"/>
          <a:lstStyle/>
          <a:p>
            <a:pPr indent="0" marL="0">
              <a:buNone/>
            </a:pPr>
            <a:r>
              <a:rPr lang="en-US" sz="1500" b="1" dirty="0">
                <a:solidFill>
                  <a:schemeClr val="tx1"/>
                </a:solidFill>
              </a:rPr>
              <a:t>Final model</a:t>
            </a:r>
            <a:endParaRPr lang="en-US" sz="1500" dirty="0"/>
          </a:p>
        </p:txBody>
      </p:sp>
      <p:sp>
        <p:nvSpPr>
          <p:cNvPr id="6" name="Text 3"/>
          <p:cNvSpPr txBox="1"/>
          <p:nvPr/>
        </p:nvSpPr>
        <p:spPr>
          <a:xfrm>
            <a:off x="8458200" y="1572768"/>
            <a:ext cx="3017520" cy="1371600"/>
          </a:xfrm>
          <a:prstGeom prst="rect">
            <a:avLst/>
          </a:prstGeom>
          <a:noFill/>
          <a:ln/>
        </p:spPr>
        <p:txBody>
          <a:bodyPr wrap="square" rtlCol="0" anchor="ctr"/>
          <a:lstStyle/>
          <a:p>
            <a:pPr marL="342900" indent="-342900">
              <a:lnSpc>
                <a:spcPts val="2000"/>
              </a:lnSpc>
              <a:spcAft>
                <a:spcPts val="600"/>
              </a:spcAft>
              <a:buSzPct val="100000"/>
              <a:buChar char="•"/>
            </a:pPr>
            <a:r>
              <a:rPr lang="en-US" sz="1250" dirty="0">
                <a:solidFill>
                  <a:schemeClr val="tx1"/>
                </a:solidFill>
              </a:rPr>
              <a:t>LightGBM, Poisson objective</a:t>
            </a:r>
            <a:endParaRPr lang="en-US" sz="1250" dirty="0"/>
          </a:p>
          <a:p>
            <a:pPr marL="342900" indent="-342900">
              <a:lnSpc>
                <a:spcPts val="2000"/>
              </a:lnSpc>
              <a:spcAft>
                <a:spcPts val="600"/>
              </a:spcAft>
              <a:buSzPct val="100000"/>
              <a:buChar char="•"/>
            </a:pPr>
            <a:r>
              <a:rPr lang="en-US" sz="1250" dirty="0">
                <a:solidFill>
                  <a:schemeClr val="tx1"/>
                </a:solidFill>
              </a:rPr>
              <a:t>36 forecast-time features</a:t>
            </a:r>
            <a:endParaRPr lang="en-US" sz="1250" dirty="0"/>
          </a:p>
          <a:p>
            <a:pPr marL="342900" indent="-342900">
              <a:lnSpc>
                <a:spcPts val="2000"/>
              </a:lnSpc>
              <a:spcAft>
                <a:spcPts val="600"/>
              </a:spcAft>
              <a:buSzPct val="100000"/>
              <a:buChar char="•"/>
            </a:pPr>
            <a:r>
              <a:rPr lang="en-US" sz="1250" dirty="0">
                <a:solidFill>
                  <a:schemeClr val="tx1"/>
                </a:solidFill>
              </a:rPr>
              <a:t>Chronological validation only</a:t>
            </a:r>
            <a:endParaRPr lang="en-US" sz="1250" dirty="0"/>
          </a:p>
          <a:p>
            <a:pPr marL="342900" indent="-342900">
              <a:lnSpc>
                <a:spcPts val="2000"/>
              </a:lnSpc>
              <a:spcAft>
                <a:spcPts val="600"/>
              </a:spcAft>
              <a:buSzPct val="100000"/>
              <a:buChar char="•"/>
            </a:pPr>
            <a:r>
              <a:rPr lang="en-US" sz="1250" dirty="0">
                <a:solidFill>
                  <a:schemeClr val="tx1"/>
                </a:solidFill>
              </a:rPr>
              <a:t>Nothing fitted on the test file</a:t>
            </a:r>
            <a:endParaRPr lang="en-US" sz="1250" dirty="0"/>
          </a:p>
        </p:txBody>
      </p:sp>
      <p:sp>
        <p:nvSpPr>
          <p:cNvPr id="7" name="Text 4"/>
          <p:cNvSpPr txBox="1"/>
          <p:nvPr/>
        </p:nvSpPr>
        <p:spPr>
          <a:xfrm>
            <a:off x="8458200" y="3017520"/>
            <a:ext cx="3017520" cy="320040"/>
          </a:xfrm>
          <a:prstGeom prst="rect">
            <a:avLst/>
          </a:prstGeom>
          <a:noFill/>
          <a:ln/>
        </p:spPr>
        <p:txBody>
          <a:bodyPr wrap="square" lIns="0" tIns="0" rIns="0" bIns="0" rtlCol="0" anchor="ctr"/>
          <a:lstStyle/>
          <a:p>
            <a:pPr indent="0" marL="0">
              <a:buNone/>
            </a:pPr>
            <a:r>
              <a:rPr lang="en-US" sz="1500" b="1" dirty="0">
                <a:solidFill>
                  <a:schemeClr val="tx1"/>
                </a:solidFill>
              </a:rPr>
              <a:t>What each join is worth</a:t>
            </a:r>
            <a:endParaRPr lang="en-US" sz="1500" dirty="0"/>
          </a:p>
        </p:txBody>
      </p:sp>
      <p:sp>
        <p:nvSpPr>
          <p:cNvPr id="8" name="Text 5"/>
          <p:cNvSpPr txBox="1"/>
          <p:nvPr/>
        </p:nvSpPr>
        <p:spPr>
          <a:xfrm>
            <a:off x="8458200" y="3383280"/>
            <a:ext cx="3017520" cy="1097280"/>
          </a:xfrm>
          <a:prstGeom prst="rect">
            <a:avLst/>
          </a:prstGeom>
          <a:noFill/>
          <a:ln/>
        </p:spPr>
        <p:txBody>
          <a:bodyPr wrap="square" rtlCol="0" anchor="ctr"/>
          <a:lstStyle/>
          <a:p>
            <a:pPr marL="342900" indent="-342900">
              <a:lnSpc>
                <a:spcPts val="2000"/>
              </a:lnSpc>
              <a:spcAft>
                <a:spcPts val="600"/>
              </a:spcAft>
              <a:buSzPct val="100000"/>
              <a:buChar char="•"/>
            </a:pPr>
            <a:r>
              <a:rPr lang="en-US" sz="1250" dirty="0">
                <a:solidFill>
                  <a:schemeClr val="tx1"/>
                </a:solidFill>
              </a:rPr>
              <a:t>Weather: −0.88 RMSE (−8.9%)</a:t>
            </a:r>
            <a:endParaRPr lang="en-US" sz="1250" dirty="0"/>
          </a:p>
          <a:p>
            <a:pPr marL="342900" indent="-342900">
              <a:lnSpc>
                <a:spcPts val="2000"/>
              </a:lnSpc>
              <a:spcAft>
                <a:spcPts val="600"/>
              </a:spcAft>
              <a:buSzPct val="100000"/>
              <a:buChar char="•"/>
            </a:pPr>
            <a:r>
              <a:rPr lang="en-US" sz="1250" dirty="0">
                <a:solidFill>
                  <a:schemeClr val="tx1"/>
                </a:solidFill>
              </a:rPr>
              <a:t>Events: −0.35 RMSE (−3.5%)</a:t>
            </a:r>
            <a:endParaRPr lang="en-US" sz="1250" dirty="0"/>
          </a:p>
          <a:p>
            <a:pPr marL="342900" indent="-342900">
              <a:lnSpc>
                <a:spcPts val="2000"/>
              </a:lnSpc>
              <a:spcAft>
                <a:spcPts val="600"/>
              </a:spcAft>
              <a:buSzPct val="100000"/>
              <a:buChar char="•"/>
            </a:pPr>
            <a:r>
              <a:rPr lang="en-US" sz="1250" dirty="0">
                <a:solidFill>
                  <a:schemeClr val="tx1"/>
                </a:solidFill>
              </a:rPr>
              <a:t>Both together: −1.16 (−11.7%)</a:t>
            </a:r>
            <a:endParaRPr lang="en-US" sz="1250" dirty="0"/>
          </a:p>
        </p:txBody>
      </p:sp>
      <p:sp>
        <p:nvSpPr>
          <p:cNvPr id="9" name="Text 6"/>
          <p:cNvSpPr txBox="1"/>
          <p:nvPr/>
        </p:nvSpPr>
        <p:spPr>
          <a:xfrm>
            <a:off x="457200" y="4846320"/>
            <a:ext cx="2743200" cy="685800"/>
          </a:xfrm>
          <a:prstGeom prst="rect">
            <a:avLst/>
          </a:prstGeom>
          <a:noFill/>
          <a:ln/>
        </p:spPr>
        <p:txBody>
          <a:bodyPr wrap="square" lIns="0" tIns="0" rIns="0" bIns="0" rtlCol="0" anchor="ctr"/>
          <a:lstStyle/>
          <a:p>
            <a:pPr indent="0" marL="0">
              <a:buNone/>
            </a:pPr>
            <a:r>
              <a:rPr lang="en-US" sz="4000" b="1" dirty="0">
                <a:solidFill>
                  <a:schemeClr val="accent1"/>
                </a:solidFill>
              </a:rPr>
              <a:t>8.09</a:t>
            </a:r>
            <a:endParaRPr lang="en-US" sz="4000" dirty="0"/>
          </a:p>
        </p:txBody>
      </p:sp>
      <p:sp>
        <p:nvSpPr>
          <p:cNvPr id="10" name="Text 7"/>
          <p:cNvSpPr txBox="1"/>
          <p:nvPr/>
        </p:nvSpPr>
        <p:spPr>
          <a:xfrm>
            <a:off x="457200" y="5504688"/>
            <a:ext cx="2743200" cy="548640"/>
          </a:xfrm>
          <a:prstGeom prst="rect">
            <a:avLst/>
          </a:prstGeom>
          <a:noFill/>
          <a:ln/>
        </p:spPr>
        <p:txBody>
          <a:bodyPr wrap="square" lIns="0" tIns="0" rIns="0" bIns="0" rtlCol="0" anchor="ctr"/>
          <a:lstStyle/>
          <a:p>
            <a:pPr indent="0" marL="0">
              <a:buNone/>
            </a:pPr>
            <a:r>
              <a:rPr lang="en-US" sz="1200" dirty="0">
                <a:solidFill>
                  <a:schemeClr val="tx1"/>
                </a:solidFill>
              </a:rPr>
              <a:t>final RMSE</a:t>
            </a:r>
            <a:endParaRPr lang="en-US" sz="1200" dirty="0"/>
          </a:p>
          <a:p>
            <a:pPr indent="0" marL="0">
              <a:buNone/>
            </a:pPr>
            <a:r>
              <a:rPr lang="en-US" sz="1200" dirty="0">
                <a:solidFill>
                  <a:schemeClr val="tx1"/>
                </a:solidFill>
              </a:rPr>
              <a:t>(trips per zone-hour)</a:t>
            </a:r>
            <a:endParaRPr lang="en-US" sz="1200" dirty="0"/>
          </a:p>
        </p:txBody>
      </p:sp>
      <p:sp>
        <p:nvSpPr>
          <p:cNvPr id="11" name="Text 8"/>
          <p:cNvSpPr txBox="1"/>
          <p:nvPr/>
        </p:nvSpPr>
        <p:spPr>
          <a:xfrm>
            <a:off x="3383280" y="4846320"/>
            <a:ext cx="2743200" cy="685800"/>
          </a:xfrm>
          <a:prstGeom prst="rect">
            <a:avLst/>
          </a:prstGeom>
          <a:noFill/>
          <a:ln/>
        </p:spPr>
        <p:txBody>
          <a:bodyPr wrap="square" lIns="0" tIns="0" rIns="0" bIns="0" rtlCol="0" anchor="ctr"/>
          <a:lstStyle/>
          <a:p>
            <a:pPr indent="0" marL="0">
              <a:buNone/>
            </a:pPr>
            <a:r>
              <a:rPr lang="en-US" sz="4000" b="1" dirty="0">
                <a:solidFill>
                  <a:schemeClr val="accent2"/>
                </a:solidFill>
              </a:rPr>
              <a:t>9.94</a:t>
            </a:r>
            <a:endParaRPr lang="en-US" sz="4000" dirty="0"/>
          </a:p>
        </p:txBody>
      </p:sp>
      <p:sp>
        <p:nvSpPr>
          <p:cNvPr id="12" name="Text 9"/>
          <p:cNvSpPr txBox="1"/>
          <p:nvPr/>
        </p:nvSpPr>
        <p:spPr>
          <a:xfrm>
            <a:off x="3383280" y="5504688"/>
            <a:ext cx="2743200" cy="548640"/>
          </a:xfrm>
          <a:prstGeom prst="rect">
            <a:avLst/>
          </a:prstGeom>
          <a:noFill/>
          <a:ln/>
        </p:spPr>
        <p:txBody>
          <a:bodyPr wrap="square" lIns="0" tIns="0" rIns="0" bIns="0" rtlCol="0" anchor="ctr"/>
          <a:lstStyle/>
          <a:p>
            <a:pPr indent="0" marL="0">
              <a:buNone/>
            </a:pPr>
            <a:r>
              <a:rPr lang="en-US" sz="1200" dirty="0">
                <a:solidFill>
                  <a:schemeClr val="tx1"/>
                </a:solidFill>
              </a:rPr>
              <a:t>best baseline</a:t>
            </a:r>
            <a:endParaRPr lang="en-US" sz="1200" dirty="0"/>
          </a:p>
          <a:p>
            <a:pPr indent="0" marL="0">
              <a:buNone/>
            </a:pPr>
            <a:r>
              <a:rPr lang="en-US" sz="1200" dirty="0">
                <a:solidFill>
                  <a:schemeClr val="tx1"/>
                </a:solidFill>
              </a:rPr>
              <a:t>(seasonal naive)</a:t>
            </a:r>
            <a:endParaRPr lang="en-US" sz="1200" dirty="0"/>
          </a:p>
        </p:txBody>
      </p:sp>
      <p:sp>
        <p:nvSpPr>
          <p:cNvPr id="13" name="Text 10"/>
          <p:cNvSpPr txBox="1"/>
          <p:nvPr/>
        </p:nvSpPr>
        <p:spPr>
          <a:xfrm>
            <a:off x="6309360" y="4846320"/>
            <a:ext cx="2743200" cy="685800"/>
          </a:xfrm>
          <a:prstGeom prst="rect">
            <a:avLst/>
          </a:prstGeom>
          <a:noFill/>
          <a:ln/>
        </p:spPr>
        <p:txBody>
          <a:bodyPr wrap="square" lIns="0" tIns="0" rIns="0" bIns="0" rtlCol="0" anchor="ctr"/>
          <a:lstStyle/>
          <a:p>
            <a:pPr indent="0" marL="0">
              <a:buNone/>
            </a:pPr>
            <a:r>
              <a:rPr lang="en-US" sz="4000" b="1" dirty="0">
                <a:solidFill>
                  <a:schemeClr val="accent2"/>
                </a:solidFill>
              </a:rPr>
              <a:t>19%</a:t>
            </a:r>
            <a:endParaRPr lang="en-US" sz="4000" dirty="0"/>
          </a:p>
        </p:txBody>
      </p:sp>
      <p:sp>
        <p:nvSpPr>
          <p:cNvPr id="14" name="Text 11"/>
          <p:cNvSpPr txBox="1"/>
          <p:nvPr/>
        </p:nvSpPr>
        <p:spPr>
          <a:xfrm>
            <a:off x="6309360" y="5504688"/>
            <a:ext cx="2743200" cy="548640"/>
          </a:xfrm>
          <a:prstGeom prst="rect">
            <a:avLst/>
          </a:prstGeom>
          <a:noFill/>
          <a:ln/>
        </p:spPr>
        <p:txBody>
          <a:bodyPr wrap="square" lIns="0" tIns="0" rIns="0" bIns="0" rtlCol="0" anchor="ctr"/>
          <a:lstStyle/>
          <a:p>
            <a:pPr indent="0" marL="0">
              <a:buNone/>
            </a:pPr>
            <a:r>
              <a:rPr lang="en-US" sz="1200" dirty="0">
                <a:solidFill>
                  <a:schemeClr val="tx1"/>
                </a:solidFill>
              </a:rPr>
              <a:t>better than</a:t>
            </a:r>
            <a:endParaRPr lang="en-US" sz="1200" dirty="0"/>
          </a:p>
          <a:p>
            <a:pPr indent="0" marL="0">
              <a:buNone/>
            </a:pPr>
            <a:r>
              <a:rPr lang="en-US" sz="1200" dirty="0">
                <a:solidFill>
                  <a:schemeClr val="tx1"/>
                </a:solidFill>
              </a:rPr>
              <a:t>that baseline</a:t>
            </a:r>
            <a:endParaRPr lang="en-US" sz="1200" dirty="0"/>
          </a:p>
        </p:txBody>
      </p:sp>
      <p:sp>
        <p:nvSpPr>
          <p:cNvPr id="15" name="Text 12"/>
          <p:cNvSpPr txBox="1"/>
          <p:nvPr/>
        </p:nvSpPr>
        <p:spPr>
          <a:xfrm>
            <a:off x="9235440" y="4846320"/>
            <a:ext cx="2743200" cy="685800"/>
          </a:xfrm>
          <a:prstGeom prst="rect">
            <a:avLst/>
          </a:prstGeom>
          <a:noFill/>
          <a:ln/>
        </p:spPr>
        <p:txBody>
          <a:bodyPr wrap="square" lIns="0" tIns="0" rIns="0" bIns="0" rtlCol="0" anchor="ctr"/>
          <a:lstStyle/>
          <a:p>
            <a:pPr indent="0" marL="0">
              <a:buNone/>
            </a:pPr>
            <a:r>
              <a:rPr lang="en-US" sz="4000" b="1" dirty="0">
                <a:solidFill>
                  <a:schemeClr val="accent2"/>
                </a:solidFill>
              </a:rPr>
              <a:t>5</a:t>
            </a:r>
            <a:endParaRPr lang="en-US" sz="4000" dirty="0"/>
          </a:p>
        </p:txBody>
      </p:sp>
      <p:sp>
        <p:nvSpPr>
          <p:cNvPr id="16" name="Text 13"/>
          <p:cNvSpPr txBox="1"/>
          <p:nvPr/>
        </p:nvSpPr>
        <p:spPr>
          <a:xfrm>
            <a:off x="9235440" y="5504688"/>
            <a:ext cx="2743200" cy="548640"/>
          </a:xfrm>
          <a:prstGeom prst="rect">
            <a:avLst/>
          </a:prstGeom>
          <a:noFill/>
          <a:ln/>
        </p:spPr>
        <p:txBody>
          <a:bodyPr wrap="square" lIns="0" tIns="0" rIns="0" bIns="0" rtlCol="0" anchor="ctr"/>
          <a:lstStyle/>
          <a:p>
            <a:pPr indent="0" marL="0">
              <a:buNone/>
            </a:pPr>
            <a:r>
              <a:rPr lang="en-US" sz="1200" dirty="0">
                <a:solidFill>
                  <a:schemeClr val="tx1"/>
                </a:solidFill>
              </a:rPr>
              <a:t>rolling folds,</a:t>
            </a:r>
            <a:endParaRPr lang="en-US" sz="1200" dirty="0"/>
          </a:p>
          <a:p>
            <a:pPr indent="0" marL="0">
              <a:buNone/>
            </a:pPr>
            <a:r>
              <a:rPr lang="en-US" sz="1200" dirty="0">
                <a:solidFill>
                  <a:schemeClr val="tx1"/>
                </a:solidFill>
              </a:rPr>
              <a:t>14 days each</a:t>
            </a:r>
            <a:endParaRPr lang="en-US" sz="1200" dirty="0"/>
          </a:p>
        </p:txBody>
      </p:sp>
      <p:sp>
        <p:nvSpPr>
          <p:cNvPr id="25" name="Slide Number Placeholder 0"/>
          <p:cNvSpPr>
            <a:spLocks noGrp="1"/>
          </p:cNvSpPr>
          <p:nvPr>
            <p:ph type="sldNum" sz="quarter" idx="4294967295"/>
          </p:nvPr>
        </p:nvSpPr>
        <p:spPr>
          <a:xfrm>
            <a:off x="1143000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hasCustomPrompt="1"/>
          </p:nvPr>
        </p:nvSpPr>
        <p:spPr>
          <a:xfrm>
            <a:off x="457200" y="320040"/>
            <a:ext cx="11247120" cy="731520"/>
          </a:xfrm>
          <a:prstGeom prst="rect">
            <a:avLst/>
          </a:prstGeom>
          <a:noFill/>
          <a:ln/>
        </p:spPr>
        <p:txBody>
          <a:bodyPr wrap="square" rtlCol="0"/>
          <a:lstStyle/>
          <a:p>
            <a:pPr indent="0" marL="0">
              <a:buNone/>
            </a:pPr>
            <a:r>
              <a:rPr lang="en-US" dirty="0"/>
              <a:t>Where it misses, what it scores, and the live demo</a:t>
            </a:r>
            <a:endParaRPr lang="en-US" dirty="0"/>
          </a:p>
        </p:txBody>
      </p:sp>
      <p:sp>
        <p:nvSpPr>
          <p:cNvPr id="3" name="card-0.5-1.2"/>
          <p:cNvSpPr/>
          <p:nvPr/>
        </p:nvSpPr>
        <p:spPr>
          <a:xfrm>
            <a:off x="457200" y="1097280"/>
            <a:ext cx="5577840" cy="237744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685800" y="1234440"/>
            <a:ext cx="5120640" cy="320040"/>
          </a:xfrm>
          <a:prstGeom prst="rect">
            <a:avLst/>
          </a:prstGeom>
          <a:noFill/>
          <a:ln/>
        </p:spPr>
        <p:txBody>
          <a:bodyPr wrap="square" lIns="0" tIns="0" rIns="0" bIns="0" rtlCol="0" anchor="ctr"/>
          <a:lstStyle/>
          <a:p>
            <a:pPr indent="0" marL="0">
              <a:buNone/>
            </a:pPr>
            <a:r>
              <a:rPr lang="en-US" sz="1500" b="1" dirty="0">
                <a:solidFill>
                  <a:schemeClr val="tx1"/>
                </a:solidFill>
              </a:rPr>
              <a:t>Error analysis</a:t>
            </a:r>
            <a:endParaRPr lang="en-US" sz="1500" dirty="0"/>
          </a:p>
        </p:txBody>
      </p:sp>
      <p:sp>
        <p:nvSpPr>
          <p:cNvPr id="5" name="Text 3"/>
          <p:cNvSpPr txBox="1"/>
          <p:nvPr/>
        </p:nvSpPr>
        <p:spPr>
          <a:xfrm>
            <a:off x="685800" y="1600200"/>
            <a:ext cx="5120640" cy="1737360"/>
          </a:xfrm>
          <a:prstGeom prst="rect">
            <a:avLst/>
          </a:prstGeom>
          <a:noFill/>
          <a:ln/>
        </p:spPr>
        <p:txBody>
          <a:bodyPr wrap="square" rtlCol="0" anchor="ctr"/>
          <a:lstStyle/>
          <a:p>
            <a:pPr marL="342900" indent="-342900">
              <a:lnSpc>
                <a:spcPts val="2000"/>
              </a:lnSpc>
              <a:spcAft>
                <a:spcPts val="800"/>
              </a:spcAft>
              <a:buSzPct val="100000"/>
              <a:buChar char="•"/>
            </a:pPr>
            <a:r>
              <a:rPr lang="en-US" sz="1250" dirty="0">
                <a:solidFill>
                  <a:schemeClr val="tx1"/>
                </a:solidFill>
              </a:rPr>
              <a:t>9 of the 10 largest misses are holiday eves — Meskel eve in Kazanchis, New Year eve in Merkato — crowds the calendar never lists</a:t>
            </a:r>
            <a:endParaRPr lang="en-US" sz="1250" dirty="0"/>
          </a:p>
          <a:p>
            <a:pPr marL="342900" indent="-342900">
              <a:lnSpc>
                <a:spcPts val="2000"/>
              </a:lnSpc>
              <a:spcAft>
                <a:spcPts val="800"/>
              </a:spcAft>
              <a:buSzPct val="100000"/>
              <a:buChar char="•"/>
            </a:pPr>
            <a:r>
              <a:rPr lang="en-US" sz="1250" dirty="0">
                <a:solidFill>
                  <a:schemeClr val="tx1"/>
                </a:solidFill>
              </a:rPr>
              <a:t>We answered with a holiday-eve feature: error on those hours fell from 16.9 to 16.1</a:t>
            </a:r>
            <a:endParaRPr lang="en-US" sz="1250" dirty="0"/>
          </a:p>
          <a:p>
            <a:pPr marL="342900" indent="-342900">
              <a:lnSpc>
                <a:spcPts val="2000"/>
              </a:lnSpc>
              <a:spcAft>
                <a:spcPts val="800"/>
              </a:spcAft>
              <a:buSzPct val="100000"/>
              <a:buChar char="•"/>
            </a:pPr>
            <a:r>
              <a:rPr lang="en-US" sz="1250" dirty="0">
                <a:solidFill>
                  <a:schemeClr val="tx1"/>
                </a:solidFill>
              </a:rPr>
              <a:t>Every large miss is an under-forecast, so the model plays safe on surges</a:t>
            </a:r>
            <a:endParaRPr lang="en-US" sz="1250" dirty="0"/>
          </a:p>
        </p:txBody>
      </p:sp>
      <p:sp>
        <p:nvSpPr>
          <p:cNvPr id="6" name="card-0.5-4"/>
          <p:cNvSpPr/>
          <p:nvPr/>
        </p:nvSpPr>
        <p:spPr>
          <a:xfrm>
            <a:off x="457200" y="3657600"/>
            <a:ext cx="5577840" cy="2560320"/>
          </a:xfrm>
          <a:prstGeom prst="roundRect">
            <a:avLst>
              <a:gd name="adj" fmla="val 2857"/>
            </a:avLst>
          </a:prstGeom>
          <a:solidFill>
            <a:schemeClr val="bg2"/>
          </a:solidFill>
          <a:ln w="12700">
            <a:solidFill>
              <a:schemeClr val="bg2"/>
            </a:solidFill>
            <a:prstDash val="solid"/>
          </a:ln>
        </p:spPr>
      </p:sp>
      <p:sp>
        <p:nvSpPr>
          <p:cNvPr id="7" name="Text 5"/>
          <p:cNvSpPr txBox="1"/>
          <p:nvPr/>
        </p:nvSpPr>
        <p:spPr>
          <a:xfrm>
            <a:off x="685800" y="3794760"/>
            <a:ext cx="5120640" cy="320040"/>
          </a:xfrm>
          <a:prstGeom prst="rect">
            <a:avLst/>
          </a:prstGeom>
          <a:noFill/>
          <a:ln/>
        </p:spPr>
        <p:txBody>
          <a:bodyPr wrap="square" lIns="0" tIns="0" rIns="0" bIns="0" rtlCol="0" anchor="ctr"/>
          <a:lstStyle/>
          <a:p>
            <a:pPr indent="0" marL="0">
              <a:buNone/>
            </a:pPr>
            <a:r>
              <a:rPr lang="en-US" sz="1500" b="1" dirty="0">
                <a:solidFill>
                  <a:schemeClr val="tx1"/>
                </a:solidFill>
              </a:rPr>
              <a:t>What we would try next</a:t>
            </a:r>
            <a:endParaRPr lang="en-US" sz="1500" dirty="0"/>
          </a:p>
        </p:txBody>
      </p:sp>
      <p:sp>
        <p:nvSpPr>
          <p:cNvPr id="8" name="Text 6"/>
          <p:cNvSpPr txBox="1"/>
          <p:nvPr/>
        </p:nvSpPr>
        <p:spPr>
          <a:xfrm>
            <a:off x="685800" y="4160520"/>
            <a:ext cx="5120640" cy="1463040"/>
          </a:xfrm>
          <a:prstGeom prst="rect">
            <a:avLst/>
          </a:prstGeom>
          <a:noFill/>
          <a:ln/>
        </p:spPr>
        <p:txBody>
          <a:bodyPr wrap="square" rtlCol="0" anchor="ctr"/>
          <a:lstStyle/>
          <a:p>
            <a:pPr marL="342900" indent="-342900">
              <a:lnSpc>
                <a:spcPts val="2000"/>
              </a:lnSpc>
              <a:spcAft>
                <a:spcPts val="800"/>
              </a:spcAft>
              <a:buSzPct val="100000"/>
              <a:buChar char="•"/>
            </a:pPr>
            <a:r>
              <a:rPr lang="en-US" sz="1250" dirty="0">
                <a:solidFill>
                  <a:schemeClr val="tx1"/>
                </a:solidFill>
              </a:rPr>
              <a:t>An Ethiopian religious-calendar feed, so eves are known in advance</a:t>
            </a:r>
            <a:endParaRPr lang="en-US" sz="1250" dirty="0"/>
          </a:p>
          <a:p>
            <a:pPr marL="342900" indent="-342900">
              <a:lnSpc>
                <a:spcPts val="2000"/>
              </a:lnSpc>
              <a:spcAft>
                <a:spcPts val="800"/>
              </a:spcAft>
              <a:buSzPct val="100000"/>
              <a:buChar char="•"/>
            </a:pPr>
            <a:r>
              <a:rPr lang="en-US" sz="1250" dirty="0">
                <a:solidFill>
                  <a:schemeClr val="tx1"/>
                </a:solidFill>
              </a:rPr>
              <a:t>A quantile model per zone instead of one pooled interval width</a:t>
            </a:r>
            <a:endParaRPr lang="en-US" sz="1250" dirty="0"/>
          </a:p>
          <a:p>
            <a:pPr marL="342900" indent="-342900">
              <a:lnSpc>
                <a:spcPts val="2000"/>
              </a:lnSpc>
              <a:spcAft>
                <a:spcPts val="800"/>
              </a:spcAft>
              <a:buSzPct val="100000"/>
              <a:buChar char="•"/>
            </a:pPr>
            <a:r>
              <a:rPr lang="en-US" sz="1250" dirty="0">
                <a:solidFill>
                  <a:schemeClr val="tx1"/>
                </a:solidFill>
              </a:rPr>
              <a:t>Weekly retraining, since demand grew 40% over the ten months</a:t>
            </a:r>
            <a:endParaRPr lang="en-US" sz="1250" dirty="0"/>
          </a:p>
        </p:txBody>
      </p:sp>
      <p:sp>
        <p:nvSpPr>
          <p:cNvPr id="9" name="card-6.8-1.2"/>
          <p:cNvSpPr/>
          <p:nvPr/>
        </p:nvSpPr>
        <p:spPr>
          <a:xfrm>
            <a:off x="6217920" y="1097280"/>
            <a:ext cx="5486400" cy="2377440"/>
          </a:xfrm>
          <a:prstGeom prst="roundRect">
            <a:avLst>
              <a:gd name="adj" fmla="val 3077"/>
            </a:avLst>
          </a:prstGeom>
          <a:solidFill>
            <a:schemeClr val="tx1"/>
          </a:solidFill>
          <a:ln w="12700">
            <a:solidFill>
              <a:schemeClr val="bg2"/>
            </a:solidFill>
            <a:prstDash val="solid"/>
          </a:ln>
        </p:spPr>
      </p:sp>
      <p:sp>
        <p:nvSpPr>
          <p:cNvPr id="10" name="Text 8"/>
          <p:cNvSpPr txBox="1"/>
          <p:nvPr/>
        </p:nvSpPr>
        <p:spPr>
          <a:xfrm>
            <a:off x="6446520" y="1234440"/>
            <a:ext cx="5029200" cy="320040"/>
          </a:xfrm>
          <a:prstGeom prst="rect">
            <a:avLst/>
          </a:prstGeom>
          <a:noFill/>
          <a:ln/>
        </p:spPr>
        <p:txBody>
          <a:bodyPr wrap="square" lIns="0" tIns="0" rIns="0" bIns="0" rtlCol="0" anchor="ctr"/>
          <a:lstStyle/>
          <a:p>
            <a:pPr indent="0" marL="0">
              <a:buNone/>
            </a:pPr>
            <a:r>
              <a:rPr lang="en-US" sz="1500" b="1" dirty="0">
                <a:solidFill>
                  <a:srgbClr val="FFFFFF"/>
                </a:solidFill>
              </a:rPr>
              <a:t>Final score</a:t>
            </a:r>
            <a:endParaRPr lang="en-US" sz="1500" dirty="0"/>
          </a:p>
        </p:txBody>
      </p:sp>
      <p:sp>
        <p:nvSpPr>
          <p:cNvPr id="11" name="Text 9"/>
          <p:cNvSpPr txBox="1"/>
          <p:nvPr/>
        </p:nvSpPr>
        <p:spPr>
          <a:xfrm>
            <a:off x="6446520" y="1600200"/>
            <a:ext cx="2377440" cy="731520"/>
          </a:xfrm>
          <a:prstGeom prst="rect">
            <a:avLst/>
          </a:prstGeom>
          <a:noFill/>
          <a:ln/>
        </p:spPr>
        <p:txBody>
          <a:bodyPr wrap="square" lIns="0" tIns="0" rIns="0" bIns="0" rtlCol="0" anchor="ctr"/>
          <a:lstStyle/>
          <a:p>
            <a:pPr indent="0" marL="0">
              <a:buNone/>
            </a:pPr>
            <a:r>
              <a:rPr lang="en-US" sz="4400" b="1" dirty="0">
                <a:solidFill>
                  <a:srgbClr val="EB6834"/>
                </a:solidFill>
              </a:rPr>
              <a:t>8.09</a:t>
            </a:r>
            <a:endParaRPr lang="en-US" sz="4400" dirty="0"/>
          </a:p>
        </p:txBody>
      </p:sp>
      <p:sp>
        <p:nvSpPr>
          <p:cNvPr id="12" name="Text 10"/>
          <p:cNvSpPr txBox="1"/>
          <p:nvPr/>
        </p:nvSpPr>
        <p:spPr>
          <a:xfrm>
            <a:off x="6446520" y="2377440"/>
            <a:ext cx="2377440" cy="640080"/>
          </a:xfrm>
          <a:prstGeom prst="rect">
            <a:avLst/>
          </a:prstGeom>
          <a:noFill/>
          <a:ln/>
        </p:spPr>
        <p:txBody>
          <a:bodyPr wrap="square" lIns="0" tIns="0" rIns="0" bIns="0" rtlCol="0" anchor="ctr"/>
          <a:lstStyle/>
          <a:p>
            <a:pPr indent="0" marL="0">
              <a:buNone/>
            </a:pPr>
            <a:r>
              <a:rPr lang="en-US" sz="1200" dirty="0">
                <a:solidFill>
                  <a:srgbClr val="CBD5E1"/>
                </a:solidFill>
              </a:rPr>
              <a:t>RMSE on 18–31 Oct</a:t>
            </a:r>
            <a:endParaRPr lang="en-US" sz="1200" dirty="0"/>
          </a:p>
          <a:p>
            <a:pPr indent="0" marL="0">
              <a:buNone/>
            </a:pPr>
            <a:r>
              <a:rPr lang="en-US" sz="1200" dirty="0">
                <a:solidFill>
                  <a:srgbClr val="CBD5E1"/>
                </a:solidFill>
              </a:rPr>
              <a:t>(MAE 5.60)</a:t>
            </a:r>
            <a:endParaRPr lang="en-US" sz="1200" dirty="0"/>
          </a:p>
        </p:txBody>
      </p:sp>
      <p:sp>
        <p:nvSpPr>
          <p:cNvPr id="13" name="Text 11"/>
          <p:cNvSpPr txBox="1"/>
          <p:nvPr/>
        </p:nvSpPr>
        <p:spPr>
          <a:xfrm>
            <a:off x="9052560" y="1600200"/>
            <a:ext cx="2377440" cy="731520"/>
          </a:xfrm>
          <a:prstGeom prst="rect">
            <a:avLst/>
          </a:prstGeom>
          <a:noFill/>
          <a:ln/>
        </p:spPr>
        <p:txBody>
          <a:bodyPr wrap="square" lIns="0" tIns="0" rIns="0" bIns="0" rtlCol="0" anchor="ctr"/>
          <a:lstStyle/>
          <a:p>
            <a:pPr indent="0" marL="0">
              <a:buNone/>
            </a:pPr>
            <a:r>
              <a:rPr lang="en-US" sz="4400" b="1" dirty="0">
                <a:solidFill>
                  <a:srgbClr val="2A78D6"/>
                </a:solidFill>
              </a:rPr>
              <a:t>8.68</a:t>
            </a:r>
            <a:endParaRPr lang="en-US" sz="4400" dirty="0"/>
          </a:p>
        </p:txBody>
      </p:sp>
      <p:sp>
        <p:nvSpPr>
          <p:cNvPr id="14" name="Text 12"/>
          <p:cNvSpPr txBox="1"/>
          <p:nvPr/>
        </p:nvSpPr>
        <p:spPr>
          <a:xfrm>
            <a:off x="9052560" y="2377440"/>
            <a:ext cx="2377440" cy="640080"/>
          </a:xfrm>
          <a:prstGeom prst="rect">
            <a:avLst/>
          </a:prstGeom>
          <a:noFill/>
          <a:ln/>
        </p:spPr>
        <p:txBody>
          <a:bodyPr wrap="square" lIns="0" tIns="0" rIns="0" bIns="0" rtlCol="0" anchor="ctr"/>
          <a:lstStyle/>
          <a:p>
            <a:pPr indent="0" marL="0">
              <a:buNone/>
            </a:pPr>
            <a:r>
              <a:rPr lang="en-US" sz="1200" dirty="0">
                <a:solidFill>
                  <a:srgbClr val="CBD5E1"/>
                </a:solidFill>
              </a:rPr>
              <a:t>rolling mean over</a:t>
            </a:r>
            <a:endParaRPr lang="en-US" sz="1200" dirty="0"/>
          </a:p>
          <a:p>
            <a:pPr indent="0" marL="0">
              <a:buNone/>
            </a:pPr>
            <a:r>
              <a:rPr lang="en-US" sz="1200" dirty="0">
                <a:solidFill>
                  <a:srgbClr val="CBD5E1"/>
                </a:solidFill>
              </a:rPr>
              <a:t>5 fortnights</a:t>
            </a:r>
            <a:endParaRPr lang="en-US" sz="1200" dirty="0"/>
          </a:p>
        </p:txBody>
      </p:sp>
      <p:sp>
        <p:nvSpPr>
          <p:cNvPr id="15" name="Text 13"/>
          <p:cNvSpPr txBox="1"/>
          <p:nvPr/>
        </p:nvSpPr>
        <p:spPr>
          <a:xfrm>
            <a:off x="6446520" y="3017520"/>
            <a:ext cx="5029200" cy="365760"/>
          </a:xfrm>
          <a:prstGeom prst="rect">
            <a:avLst/>
          </a:prstGeom>
          <a:noFill/>
          <a:ln/>
        </p:spPr>
        <p:txBody>
          <a:bodyPr wrap="square" lIns="0" tIns="0" rIns="0" bIns="0" rtlCol="0" anchor="ctr"/>
          <a:lstStyle/>
          <a:p>
            <a:pPr indent="0" marL="0">
              <a:buNone/>
            </a:pPr>
            <a:r>
              <a:rPr lang="en-US" sz="1200" i="1" dirty="0">
                <a:solidFill>
                  <a:srgbClr val="FFFFFF"/>
                </a:solidFill>
              </a:rPr>
              <a:t>In plain terms: about 5.6 trips off per zone-hour — roughly 4 drivers out of a typical 26.</a:t>
            </a:r>
            <a:endParaRPr lang="en-US" sz="1200" dirty="0"/>
          </a:p>
        </p:txBody>
      </p:sp>
      <p:sp>
        <p:nvSpPr>
          <p:cNvPr id="16" name="card-6.8-4"/>
          <p:cNvSpPr/>
          <p:nvPr/>
        </p:nvSpPr>
        <p:spPr>
          <a:xfrm>
            <a:off x="6217920" y="3657600"/>
            <a:ext cx="5486400" cy="2560320"/>
          </a:xfrm>
          <a:prstGeom prst="roundRect">
            <a:avLst>
              <a:gd name="adj" fmla="val 2857"/>
            </a:avLst>
          </a:prstGeom>
          <a:solidFill>
            <a:schemeClr val="bg2"/>
          </a:solidFill>
          <a:ln w="12700">
            <a:solidFill>
              <a:schemeClr val="bg2"/>
            </a:solidFill>
            <a:prstDash val="solid"/>
          </a:ln>
        </p:spPr>
      </p:sp>
      <p:sp>
        <p:nvSpPr>
          <p:cNvPr id="17" name="Text 15"/>
          <p:cNvSpPr txBox="1"/>
          <p:nvPr/>
        </p:nvSpPr>
        <p:spPr>
          <a:xfrm>
            <a:off x="6446520" y="3794760"/>
            <a:ext cx="5029200" cy="320040"/>
          </a:xfrm>
          <a:prstGeom prst="rect">
            <a:avLst/>
          </a:prstGeom>
          <a:noFill/>
          <a:ln/>
        </p:spPr>
        <p:txBody>
          <a:bodyPr wrap="square" lIns="0" tIns="0" rIns="0" bIns="0" rtlCol="0" anchor="ctr"/>
          <a:lstStyle/>
          <a:p>
            <a:pPr indent="0" marL="0">
              <a:buNone/>
            </a:pPr>
            <a:r>
              <a:rPr lang="en-US" sz="1500" b="1" dirty="0">
                <a:solidFill>
                  <a:schemeClr val="tx1"/>
                </a:solidFill>
              </a:rPr>
              <a:t>Live demo</a:t>
            </a:r>
            <a:endParaRPr lang="en-US" sz="1500" dirty="0"/>
          </a:p>
        </p:txBody>
      </p:sp>
      <p:sp>
        <p:nvSpPr>
          <p:cNvPr id="18" name="Text 16"/>
          <p:cNvSpPr txBox="1"/>
          <p:nvPr/>
        </p:nvSpPr>
        <p:spPr>
          <a:xfrm>
            <a:off x="6446520" y="4160520"/>
            <a:ext cx="5029200" cy="1828800"/>
          </a:xfrm>
          <a:prstGeom prst="rect">
            <a:avLst/>
          </a:prstGeom>
          <a:noFill/>
          <a:ln/>
        </p:spPr>
        <p:txBody>
          <a:bodyPr wrap="square" rtlCol="0" anchor="ctr"/>
          <a:lstStyle/>
          <a:p>
            <a:pPr marL="342900" indent="-342900">
              <a:lnSpc>
                <a:spcPts val="2000"/>
              </a:lnSpc>
              <a:spcAft>
                <a:spcPts val="800"/>
              </a:spcAft>
              <a:buSzPct val="100000"/>
              <a:buChar char="•"/>
            </a:pPr>
            <a:r>
              <a:rPr lang="en-US" sz="1250" dirty="0">
                <a:solidFill>
                  <a:schemeClr val="tx1"/>
                </a:solidFill>
              </a:rPr>
              <a:t>Runs locally: streamlit run app/app.py</a:t>
            </a:r>
            <a:endParaRPr lang="en-US" sz="1250" dirty="0"/>
          </a:p>
          <a:p>
            <a:pPr marL="342900" indent="-342900">
              <a:lnSpc>
                <a:spcPts val="2000"/>
              </a:lnSpc>
              <a:spcAft>
                <a:spcPts val="800"/>
              </a:spcAft>
              <a:buSzPct val="100000"/>
              <a:buChar char="•"/>
            </a:pPr>
            <a:r>
              <a:rPr lang="en-US" sz="1250" dirty="0">
                <a:solidFill>
                  <a:schemeClr val="tx1"/>
                </a:solidFill>
              </a:rPr>
              <a:t>Pick a zone and a day; the app looks up weather and events itself</a:t>
            </a:r>
            <a:endParaRPr lang="en-US" sz="1250" dirty="0"/>
          </a:p>
          <a:p>
            <a:pPr marL="342900" indent="-342900">
              <a:lnSpc>
                <a:spcPts val="2000"/>
              </a:lnSpc>
              <a:spcAft>
                <a:spcPts val="800"/>
              </a:spcAft>
              <a:buSzPct val="100000"/>
              <a:buChar char="•"/>
            </a:pPr>
            <a:r>
              <a:rPr lang="en-US" sz="1250" dirty="0">
                <a:solidFill>
                  <a:schemeClr val="tx1"/>
                </a:solidFill>
              </a:rPr>
              <a:t>Returns the 24-hour curve with an 80% range, the peak hour, drivers needed and gross fares</a:t>
            </a:r>
            <a:endParaRPr lang="en-US" sz="1250" dirty="0"/>
          </a:p>
          <a:p>
            <a:pPr marL="342900" indent="-342900">
              <a:lnSpc>
                <a:spcPts val="2000"/>
              </a:lnSpc>
              <a:spcAft>
                <a:spcPts val="800"/>
              </a:spcAft>
              <a:buSzPct val="100000"/>
              <a:buChar char="•"/>
            </a:pPr>
            <a:r>
              <a:rPr lang="en-US" sz="1250" dirty="0">
                <a:solidFill>
                  <a:schemeClr val="tx1"/>
                </a:solidFill>
              </a:rPr>
              <a:t>Pick any zone and date — we will run it now</a:t>
            </a:r>
            <a:endParaRPr lang="en-US" sz="1250" dirty="0"/>
          </a:p>
        </p:txBody>
      </p:sp>
      <p:sp>
        <p:nvSpPr>
          <p:cNvPr id="25" name="Slide Number Placeholder 0"/>
          <p:cNvSpPr>
            <a:spLocks noGrp="1"/>
          </p:cNvSpPr>
          <p:nvPr>
            <p:ph type="sldNum" sz="quarter" idx="4294967295"/>
          </p:nvPr>
        </p:nvSpPr>
        <p:spPr>
          <a:xfrm>
            <a:off x="1143000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B8C"/>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Addis Ride Demand">
  <a:themeElements>
    <a:clrScheme name="Addis Ride Demand">
      <a:dk1>
        <a:srgbClr val="14213D"/>
      </a:dk1>
      <a:lt1>
        <a:srgbClr val="FFFFFF"/>
      </a:lt1>
      <a:dk2>
        <a:srgbClr val="0B1830"/>
      </a:dk2>
      <a:lt2>
        <a:srgbClr val="F2F5F9"/>
      </a:lt2>
      <a:accent1>
        <a:srgbClr val="EB6834"/>
      </a:accent1>
      <a:accent2>
        <a:srgbClr val="2A78D6"/>
      </a:accent2>
      <a:accent3>
        <a:srgbClr val="1BAF7A"/>
      </a:accent3>
      <a:accent4>
        <a:srgbClr val="EDA100"/>
      </a:accent4>
      <a:accent5>
        <a:srgbClr val="6B7B8C"/>
      </a:accent5>
      <a:accent6>
        <a:srgbClr val="E34948"/>
      </a:accent6>
      <a:hlink>
        <a:srgbClr val="2A78D6"/>
      </a:hlink>
      <a:folHlink>
        <a:srgbClr val="6B7B8C"/>
      </a:folHlink>
    </a:clrScheme>
    <a:fontScheme name="Addis Ride Deman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Addis Ride Demand Forecasting</dc:title>
  <dc:subject>PptxGenJS Presentation</dc:subject>
  <dc:creator>teamdev</dc:creator>
  <cp:lastModifiedBy>teamdev</cp:lastModifiedBy>
  <cp:revision>1</cp:revision>
  <dcterms:created xsi:type="dcterms:W3CDTF">2026-10-06T12:30:41Z</dcterms:created>
  <dcterms:modified xsi:type="dcterms:W3CDTF">2026-10-06T12:30:41Z</dcterms:modified>
</cp:coreProperties>
</file>